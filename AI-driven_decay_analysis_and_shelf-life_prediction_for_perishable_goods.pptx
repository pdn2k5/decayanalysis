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35187"/>
            <a:ext cx="4714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6B35"/>
                </a:solidFill>
              </a:rPr>
              <a:t>Next-Generation Solution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571500" y="1413793"/>
            <a:ext cx="4714875" cy="2080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AI-driven </a:t>
            </a:r>
            <a:pPr algn="l" indent="0" marL="0">
              <a:lnSpc>
                <a:spcPts val="4100"/>
              </a:lnSpc>
              <a:buNone/>
            </a:pPr>
            <a:r>
              <a:rPr lang="en-US" sz="2862" b="1" dirty="0">
                <a:solidFill>
                  <a:srgbClr val="4CAF50"/>
                </a:solidFill>
              </a:rPr>
              <a:t>decay </a:t>
            </a:r>
            <a:pPr algn="l" indent="0" marL="0">
              <a:lnSpc>
                <a:spcPts val="4100"/>
              </a:lnSpc>
              <a:buNone/>
            </a:pPr>
            <a:r>
              <a:rPr lang="en-US" sz="2862" b="1" dirty="0">
                <a:solidFill>
                  <a:srgbClr val="4CAF50"/>
                </a:solidFill>
              </a:rPr>
              <a:t>analysis</a:t>
            </a:r>
            <a:pPr algn="l" indent="0" marL="0">
              <a:lnSpc>
                <a:spcPts val="41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 and shelf-life </a:t>
            </a:r>
            <a:pPr algn="l" indent="0" marL="0">
              <a:lnSpc>
                <a:spcPts val="41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prediction for </a:t>
            </a:r>
            <a:pPr algn="l" indent="0" marL="0">
              <a:lnSpc>
                <a:spcPts val="4100"/>
              </a:lnSpc>
              <a:buNone/>
            </a:pPr>
            <a:r>
              <a:rPr lang="en-US" sz="2862" b="1" dirty="0">
                <a:solidFill>
                  <a:srgbClr val="1A1A1A"/>
                </a:solidFill>
              </a:rPr>
              <a:t>perishable goods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571500" y="3636838"/>
            <a:ext cx="4714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4A4A4A"/>
                </a:solidFill>
              </a:rPr>
              <a:t>Optimizing Inventory, Reducing Waste, and Maximizing Revenue</a:t>
            </a:r>
            <a:endParaRPr lang="en-US" sz="1269" dirty="0"/>
          </a:p>
        </p:txBody>
      </p:sp>
      <p:sp>
        <p:nvSpPr>
          <p:cNvPr id="6" name="Shape 3"/>
          <p:cNvSpPr/>
          <p:nvPr/>
        </p:nvSpPr>
        <p:spPr>
          <a:xfrm>
            <a:off x="5572125" y="0"/>
            <a:ext cx="3571875" cy="5143500"/>
          </a:xfrm>
          <a:prstGeom prst="rect">
            <a:avLst/>
          </a:prstGeom>
          <a:solidFill>
            <a:srgbClr val="FF6B35">
              <a:alpha val="5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428750"/>
            <a:ext cx="300037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857750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The Problem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848655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Perishable inventory management suffers from reliance on fixed expiry dates, leading to significant financial losses.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428625" y="1420155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42015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71525" y="1420155"/>
            <a:ext cx="45148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Unreliable Expiry Dates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771525" y="1584461"/>
            <a:ext cx="4514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Traditional fixed dates fail to account for environmental variability and handling practices.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428625" y="1877355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87735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771525" y="1877355"/>
            <a:ext cx="45148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Heterogeneous Decay Rates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771525" y="2041661"/>
            <a:ext cx="4514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Decay rates are heavily influenced by temperature, humidity, and logistics, leading to unpredictable spoilage.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428625" y="2484574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48457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71525" y="2484574"/>
            <a:ext cx="45148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Financial Impact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771525" y="2648880"/>
            <a:ext cx="4514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Chronic overstocking, high spoilage rates, and substantial losses for retailers.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428625" y="2941774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294177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771525" y="2941774"/>
            <a:ext cx="45148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Operational Challenges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771525" y="3106080"/>
            <a:ext cx="45148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Lack of real-time decay insights prevents optimization of storage costs and markdown strategies.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5572125" y="0"/>
            <a:ext cx="3571875" cy="5143500"/>
          </a:xfrm>
          <a:prstGeom prst="rect">
            <a:avLst/>
          </a:prstGeom>
          <a:solidFill>
            <a:srgbClr val="FF6B35">
              <a:alpha val="3000"/>
            </a:srgb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571625"/>
            <a:ext cx="3000375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Our Understanding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84865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The core challenge is the lack of a dynamic prediction mechanism that captures the true state of perishable goods.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571500" y="1477305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7730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848780"/>
            <a:ext cx="3457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Dynamic Prediction Gap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2070236"/>
            <a:ext cx="34575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Traditional methods cannot dynamically predict spoilage, hindering proactive inventory management.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4257675" y="1477305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257675" y="147730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257675" y="1848780"/>
            <a:ext cx="3457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Data-Driven Necessity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257675" y="2070236"/>
            <a:ext cx="34575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A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data-driven AI solution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is required to move beyond static dates and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predict spoilage dynamically.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571500" y="2618854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261885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2990329"/>
            <a:ext cx="3457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Proactive Decision Making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71500" y="3211785"/>
            <a:ext cx="34575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Dynamic prediction enables proactive decisions: re-routing inventory, adjusting storage, and implementing timely markdowns.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4257675" y="2618854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4257675" y="261885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257675" y="2990329"/>
            <a:ext cx="34575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Key Objective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257675" y="3211785"/>
            <a:ext cx="34575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Create a system providing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real-time decay scores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 for waste reduction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and optimized pricing.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857750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The AI Solution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848655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The platform provides dynamic decay prediction and shelf-life estimation to optimize the supply chain.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428625" y="1434443"/>
            <a:ext cx="200025" cy="200025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434443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728663" y="1420155"/>
            <a:ext cx="45577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Decay Prediction Model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728663" y="1568388"/>
            <a:ext cx="45577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Utilizes an ML ensemble (XGBoost/Gradient Boosting) to generate a real-time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Decay Prediction Score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 for every batch.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428625" y="1989869"/>
            <a:ext cx="200025" cy="200025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989869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28663" y="1975582"/>
            <a:ext cx="45577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Shelf-Life Estimation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728663" y="2123815"/>
            <a:ext cx="45577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Employs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Weibull Survival Analysis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 to provide estimated remaining shelf life with confidence intervals.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428625" y="2405993"/>
            <a:ext cx="200025" cy="200025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405993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728663" y="2391705"/>
            <a:ext cx="45577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Smart Alerts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728663" y="2539938"/>
            <a:ext cx="45577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LLM-enhanced contextual alerts notify staff of at-risk inventory, enabling immediate intervention.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428625" y="2822116"/>
            <a:ext cx="200025" cy="200025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2822116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728663" y="2807829"/>
            <a:ext cx="45577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Price Optimizer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728663" y="2956061"/>
            <a:ext cx="455771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Dynamically recommends markdown strategies to maximize revenue and minimize waste before spoilage occurs.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5572125" y="0"/>
            <a:ext cx="3571875" cy="5143500"/>
          </a:xfrm>
          <a:prstGeom prst="rect">
            <a:avLst/>
          </a:prstGeom>
          <a:solidFill>
            <a:srgbClr val="FF6B35">
              <a:alpha val="3000"/>
            </a:srgb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500188"/>
            <a:ext cx="300037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857750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1A1A"/>
                </a:solidFill>
              </a:rPr>
              <a:t>Data &amp; Insights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848655"/>
            <a:ext cx="4857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The solution is powered by a comprehensive, real-time data pipeline from diverse sources.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428625" y="1248705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24870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85813" y="1248705"/>
            <a:ext cx="4500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Environmental Data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785813" y="1404082"/>
            <a:ext cx="45005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IoT sensors capture real-time temperature, humidity, light exposure, and air quality during storage and transit.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428625" y="1811275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81127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785813" y="1811275"/>
            <a:ext cx="4500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Visual Data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785813" y="1966652"/>
            <a:ext cx="45005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Computer vision analysis of images detects early signs of spoilage (color changes, mold) for continuous monitoring.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428625" y="2373846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373846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85813" y="2373846"/>
            <a:ext cx="4500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Product &amp; Logistics Data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785813" y="2529222"/>
            <a:ext cx="45005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Product metadata (type, packaging, initial freshness) and logistics data (transit time, handling frequency) provide critical context.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428625" y="2936416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2936416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785813" y="2936416"/>
            <a:ext cx="4500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Data Quality &amp; Scale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785813" y="3091793"/>
            <a:ext cx="45005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System designed for real-time ingestion and edge processing, utilizing synthetic datasets for robust model training.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5572125" y="0"/>
            <a:ext cx="3571875" cy="5143500"/>
          </a:xfrm>
          <a:prstGeom prst="rect">
            <a:avLst/>
          </a:prstGeom>
          <a:solidFill>
            <a:srgbClr val="FF6B35">
              <a:alpha val="3000"/>
            </a:srgb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500188"/>
            <a:ext cx="300037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857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Expected Output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11513"/>
            <a:ext cx="4857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</a:rPr>
              <a:t>A comprehensive AI platform delivering actionable insights for inventory and pricing management.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428625" y="1383013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38301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85813" y="1383013"/>
            <a:ext cx="4500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Core Deliverables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785813" y="1531246"/>
            <a:ext cx="45005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Production-ready platform providing decay prediction scores and estimated shelf life.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428625" y="1799137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799137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785813" y="1799137"/>
            <a:ext cx="4500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Dynamic Alerts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785813" y="1947370"/>
            <a:ext cx="45005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Real-time, dynamic alerts for inventory managers to flag high-risk batches immediately.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428625" y="2215260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215260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785813" y="2215260"/>
            <a:ext cx="4500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Integrated Dashboards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785813" y="2363493"/>
            <a:ext cx="45005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Visual dashboards for tracking spoilage trends, inventory health, and prediction accuracy.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428625" y="2631384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2631384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785813" y="2631384"/>
            <a:ext cx="4500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Business Impact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785813" y="2779616"/>
            <a:ext cx="45005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Enables dynamic pricing, waste reduction, and optimized inventory across retail and supply chain.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5572125" y="0"/>
            <a:ext cx="3571875" cy="5143500"/>
          </a:xfrm>
          <a:prstGeom prst="rect">
            <a:avLst/>
          </a:prstGeom>
          <a:solidFill>
            <a:srgbClr val="FF6B35">
              <a:alpha val="3000"/>
            </a:srgb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500188"/>
            <a:ext cx="300037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428625"/>
            <a:ext cx="4857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Solution Architecture</a:t>
            </a:r>
            <a:endParaRPr lang="en-US" sz="1602" dirty="0"/>
          </a:p>
        </p:txBody>
      </p:sp>
      <p:sp>
        <p:nvSpPr>
          <p:cNvPr id="5" name="Shape 1"/>
          <p:cNvSpPr/>
          <p:nvPr/>
        </p:nvSpPr>
        <p:spPr>
          <a:xfrm>
            <a:off x="428625" y="897238"/>
            <a:ext cx="4857750" cy="881890"/>
          </a:xfrm>
          <a:prstGeom prst="rect">
            <a:avLst/>
          </a:prstGeom>
          <a:solidFill>
            <a:srgbClr val="4CAF50">
              <a:alpha val="3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428625" y="897238"/>
            <a:ext cx="28575" cy="88189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3"/>
          <p:cNvSpPr/>
          <p:nvPr/>
        </p:nvSpPr>
        <p:spPr>
          <a:xfrm>
            <a:off x="542925" y="982963"/>
            <a:ext cx="46291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Tier 1</a:t>
            </a:r>
            <a:endParaRPr lang="en-US" sz="584" dirty="0"/>
          </a:p>
        </p:txBody>
      </p:sp>
      <p:sp>
        <p:nvSpPr>
          <p:cNvPr id="8" name="Text 4"/>
          <p:cNvSpPr/>
          <p:nvPr/>
        </p:nvSpPr>
        <p:spPr>
          <a:xfrm>
            <a:off x="542925" y="1141912"/>
            <a:ext cx="4629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Frontend (React)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542925" y="1334793"/>
            <a:ext cx="46291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User-facing interface providing interactive dashboards and management tools.</a:t>
            </a:r>
            <a:endParaRPr lang="en-US" sz="621" dirty="0"/>
          </a:p>
        </p:txBody>
      </p:sp>
      <p:sp>
        <p:nvSpPr>
          <p:cNvPr id="10" name="Shape 6"/>
          <p:cNvSpPr/>
          <p:nvPr/>
        </p:nvSpPr>
        <p:spPr>
          <a:xfrm>
            <a:off x="542925" y="1514810"/>
            <a:ext cx="575937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4CAF5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2925" y="1514810"/>
            <a:ext cx="575937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Dashboard</a:t>
            </a:r>
            <a:endParaRPr lang="en-US" sz="534" dirty="0"/>
          </a:p>
        </p:txBody>
      </p:sp>
      <p:sp>
        <p:nvSpPr>
          <p:cNvPr id="12" name="Shape 8"/>
          <p:cNvSpPr/>
          <p:nvPr/>
        </p:nvSpPr>
        <p:spPr>
          <a:xfrm>
            <a:off x="1161724" y="1514810"/>
            <a:ext cx="533353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4CAF5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61724" y="1514810"/>
            <a:ext cx="533353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Inventory</a:t>
            </a:r>
            <a:endParaRPr lang="en-US" sz="534" dirty="0"/>
          </a:p>
        </p:txBody>
      </p:sp>
      <p:sp>
        <p:nvSpPr>
          <p:cNvPr id="14" name="Shape 10"/>
          <p:cNvSpPr/>
          <p:nvPr/>
        </p:nvSpPr>
        <p:spPr>
          <a:xfrm>
            <a:off x="1737940" y="1514810"/>
            <a:ext cx="383028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4CAF5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37940" y="1514810"/>
            <a:ext cx="383028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Alerts</a:t>
            </a:r>
            <a:endParaRPr lang="en-US" sz="534" dirty="0"/>
          </a:p>
        </p:txBody>
      </p:sp>
      <p:sp>
        <p:nvSpPr>
          <p:cNvPr id="16" name="Shape 12"/>
          <p:cNvSpPr/>
          <p:nvPr/>
        </p:nvSpPr>
        <p:spPr>
          <a:xfrm>
            <a:off x="2163831" y="1514810"/>
            <a:ext cx="508434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4CAF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163831" y="1514810"/>
            <a:ext cx="508434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Assistant</a:t>
            </a:r>
            <a:endParaRPr lang="en-US" sz="534" dirty="0"/>
          </a:p>
        </p:txBody>
      </p:sp>
      <p:sp>
        <p:nvSpPr>
          <p:cNvPr id="18" name="Text 14"/>
          <p:cNvSpPr/>
          <p:nvPr/>
        </p:nvSpPr>
        <p:spPr>
          <a:xfrm>
            <a:off x="428625" y="1907716"/>
            <a:ext cx="4857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CAF50"/>
                </a:solidFill>
              </a:rPr>
              <a:t>↓</a:t>
            </a:r>
            <a:endParaRPr lang="en-US" sz="784" dirty="0"/>
          </a:p>
        </p:txBody>
      </p:sp>
      <p:sp>
        <p:nvSpPr>
          <p:cNvPr id="19" name="Shape 15"/>
          <p:cNvSpPr/>
          <p:nvPr/>
        </p:nvSpPr>
        <p:spPr>
          <a:xfrm>
            <a:off x="428625" y="2214897"/>
            <a:ext cx="4857750" cy="1491955"/>
          </a:xfrm>
          <a:prstGeom prst="rect">
            <a:avLst/>
          </a:prstGeom>
          <a:solidFill>
            <a:srgbClr val="FF6B35">
              <a:alpha val="3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428625" y="2214897"/>
            <a:ext cx="28575" cy="149195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7"/>
          <p:cNvSpPr/>
          <p:nvPr/>
        </p:nvSpPr>
        <p:spPr>
          <a:xfrm>
            <a:off x="542925" y="2300622"/>
            <a:ext cx="46291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Tier 2</a:t>
            </a:r>
            <a:endParaRPr lang="en-US" sz="584" dirty="0"/>
          </a:p>
        </p:txBody>
      </p:sp>
      <p:sp>
        <p:nvSpPr>
          <p:cNvPr id="22" name="Text 18"/>
          <p:cNvSpPr/>
          <p:nvPr/>
        </p:nvSpPr>
        <p:spPr>
          <a:xfrm>
            <a:off x="542925" y="2459571"/>
            <a:ext cx="4629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Backend (FastAPI)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542925" y="2652452"/>
            <a:ext cx="46291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4A4A4A"/>
                </a:solidFill>
              </a:rPr>
              <a:t>REST API Layer: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 /predictions, /inventory, /alerts, /analytics, /voice</a:t>
            </a:r>
            <a:endParaRPr lang="en-US" sz="584" dirty="0"/>
          </a:p>
        </p:txBody>
      </p:sp>
      <p:sp>
        <p:nvSpPr>
          <p:cNvPr id="24" name="Text 20"/>
          <p:cNvSpPr/>
          <p:nvPr/>
        </p:nvSpPr>
        <p:spPr>
          <a:xfrm>
            <a:off x="542925" y="2855686"/>
            <a:ext cx="6343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4A4A4A"/>
                </a:solidFill>
              </a:rPr>
              <a:t>Services Layer:</a:t>
            </a:r>
            <a:endParaRPr lang="en-US" sz="584" dirty="0"/>
          </a:p>
        </p:txBody>
      </p:sp>
      <p:sp>
        <p:nvSpPr>
          <p:cNvPr id="25" name="Shape 21"/>
          <p:cNvSpPr/>
          <p:nvPr/>
        </p:nvSpPr>
        <p:spPr>
          <a:xfrm>
            <a:off x="542925" y="3026773"/>
            <a:ext cx="742224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42925" y="3026773"/>
            <a:ext cx="742224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DecayPredictor</a:t>
            </a:r>
            <a:endParaRPr lang="en-US" sz="534" dirty="0"/>
          </a:p>
        </p:txBody>
      </p:sp>
      <p:sp>
        <p:nvSpPr>
          <p:cNvPr id="27" name="Shape 23"/>
          <p:cNvSpPr/>
          <p:nvPr/>
        </p:nvSpPr>
        <p:spPr>
          <a:xfrm>
            <a:off x="1328012" y="3026773"/>
            <a:ext cx="862217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328012" y="3026773"/>
            <a:ext cx="862217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ShelfLifeEstimator</a:t>
            </a:r>
            <a:endParaRPr lang="en-US" sz="534" dirty="0"/>
          </a:p>
        </p:txBody>
      </p:sp>
      <p:sp>
        <p:nvSpPr>
          <p:cNvPr id="29" name="Shape 25"/>
          <p:cNvSpPr/>
          <p:nvPr/>
        </p:nvSpPr>
        <p:spPr>
          <a:xfrm>
            <a:off x="2233092" y="3026773"/>
            <a:ext cx="729862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233092" y="3026773"/>
            <a:ext cx="729862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PriceOptimizer</a:t>
            </a:r>
            <a:endParaRPr lang="en-US" sz="534" dirty="0"/>
          </a:p>
        </p:txBody>
      </p:sp>
      <p:sp>
        <p:nvSpPr>
          <p:cNvPr id="31" name="Shape 27"/>
          <p:cNvSpPr/>
          <p:nvPr/>
        </p:nvSpPr>
        <p:spPr>
          <a:xfrm>
            <a:off x="3005817" y="3026773"/>
            <a:ext cx="606661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005817" y="3026773"/>
            <a:ext cx="606661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AlertEngine</a:t>
            </a:r>
            <a:endParaRPr lang="en-US" sz="534" dirty="0"/>
          </a:p>
        </p:txBody>
      </p:sp>
      <p:sp>
        <p:nvSpPr>
          <p:cNvPr id="33" name="Shape 29"/>
          <p:cNvSpPr/>
          <p:nvPr/>
        </p:nvSpPr>
        <p:spPr>
          <a:xfrm>
            <a:off x="3655340" y="3026773"/>
            <a:ext cx="634873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655340" y="3026773"/>
            <a:ext cx="634873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VoiceService</a:t>
            </a:r>
            <a:endParaRPr lang="en-US" sz="534" dirty="0"/>
          </a:p>
        </p:txBody>
      </p:sp>
      <p:sp>
        <p:nvSpPr>
          <p:cNvPr id="35" name="Shape 31"/>
          <p:cNvSpPr/>
          <p:nvPr/>
        </p:nvSpPr>
        <p:spPr>
          <a:xfrm>
            <a:off x="4333075" y="3026773"/>
            <a:ext cx="590476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333075" y="3026773"/>
            <a:ext cx="590476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LLMService</a:t>
            </a:r>
            <a:endParaRPr lang="en-US" sz="534" dirty="0"/>
          </a:p>
        </p:txBody>
      </p:sp>
      <p:sp>
        <p:nvSpPr>
          <p:cNvPr id="37" name="Text 33"/>
          <p:cNvSpPr/>
          <p:nvPr/>
        </p:nvSpPr>
        <p:spPr>
          <a:xfrm>
            <a:off x="542925" y="3248230"/>
            <a:ext cx="46291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4A4A4A"/>
                </a:solidFill>
              </a:rPr>
              <a:t>Data Layer: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 SQLite Database</a:t>
            </a:r>
            <a:endParaRPr lang="en-US" sz="584" dirty="0"/>
          </a:p>
        </p:txBody>
      </p:sp>
      <p:sp>
        <p:nvSpPr>
          <p:cNvPr id="38" name="Shape 34"/>
          <p:cNvSpPr/>
          <p:nvPr/>
        </p:nvSpPr>
        <p:spPr>
          <a:xfrm>
            <a:off x="542925" y="3428247"/>
            <a:ext cx="496407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2925" y="3428247"/>
            <a:ext cx="496407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Products</a:t>
            </a:r>
            <a:endParaRPr lang="en-US" sz="534" dirty="0"/>
          </a:p>
        </p:txBody>
      </p:sp>
      <p:sp>
        <p:nvSpPr>
          <p:cNvPr id="40" name="Shape 36"/>
          <p:cNvSpPr/>
          <p:nvPr/>
        </p:nvSpPr>
        <p:spPr>
          <a:xfrm>
            <a:off x="1082194" y="3428247"/>
            <a:ext cx="461442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82194" y="3428247"/>
            <a:ext cx="461442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Batches</a:t>
            </a:r>
            <a:endParaRPr lang="en-US" sz="534" dirty="0"/>
          </a:p>
        </p:txBody>
      </p:sp>
      <p:sp>
        <p:nvSpPr>
          <p:cNvPr id="42" name="Shape 38"/>
          <p:cNvSpPr/>
          <p:nvPr/>
        </p:nvSpPr>
        <p:spPr>
          <a:xfrm>
            <a:off x="1586499" y="3428247"/>
            <a:ext cx="456251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586499" y="3428247"/>
            <a:ext cx="456251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Sensors</a:t>
            </a:r>
            <a:endParaRPr lang="en-US" sz="534" dirty="0"/>
          </a:p>
        </p:txBody>
      </p:sp>
      <p:sp>
        <p:nvSpPr>
          <p:cNvPr id="44" name="Shape 40"/>
          <p:cNvSpPr/>
          <p:nvPr/>
        </p:nvSpPr>
        <p:spPr>
          <a:xfrm>
            <a:off x="2085612" y="3428247"/>
            <a:ext cx="587183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085612" y="3428247"/>
            <a:ext cx="587183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Predictions</a:t>
            </a:r>
            <a:endParaRPr lang="en-US" sz="534" dirty="0"/>
          </a:p>
        </p:txBody>
      </p:sp>
      <p:sp>
        <p:nvSpPr>
          <p:cNvPr id="46" name="Shape 42"/>
          <p:cNvSpPr/>
          <p:nvPr/>
        </p:nvSpPr>
        <p:spPr>
          <a:xfrm>
            <a:off x="2715657" y="3428247"/>
            <a:ext cx="383028" cy="178594"/>
          </a:xfrm>
          <a:prstGeom prst="rect">
            <a:avLst/>
          </a:prstGeom>
          <a:solidFill>
            <a:srgbClr val="FFFFFF"/>
          </a:solidFill>
          <a:ln w="9144">
            <a:solidFill>
              <a:srgbClr val="FF6B3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715657" y="3428247"/>
            <a:ext cx="383028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Alerts</a:t>
            </a:r>
            <a:endParaRPr lang="en-US" sz="534" dirty="0"/>
          </a:p>
        </p:txBody>
      </p:sp>
      <p:sp>
        <p:nvSpPr>
          <p:cNvPr id="48" name="Text 44"/>
          <p:cNvSpPr/>
          <p:nvPr/>
        </p:nvSpPr>
        <p:spPr>
          <a:xfrm>
            <a:off x="428625" y="3821153"/>
            <a:ext cx="48577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CAF50"/>
                </a:solidFill>
              </a:rPr>
              <a:t>↓</a:t>
            </a:r>
            <a:endParaRPr lang="en-US" sz="784" dirty="0"/>
          </a:p>
        </p:txBody>
      </p:sp>
      <p:sp>
        <p:nvSpPr>
          <p:cNvPr id="49" name="Shape 45"/>
          <p:cNvSpPr/>
          <p:nvPr/>
        </p:nvSpPr>
        <p:spPr>
          <a:xfrm>
            <a:off x="428625" y="4128334"/>
            <a:ext cx="4857750" cy="660434"/>
          </a:xfrm>
          <a:prstGeom prst="rect">
            <a:avLst/>
          </a:prstGeom>
          <a:solidFill>
            <a:srgbClr val="4CAF50">
              <a:alpha val="3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428625" y="4128334"/>
            <a:ext cx="28575" cy="66043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1" name="Text 47"/>
          <p:cNvSpPr/>
          <p:nvPr/>
        </p:nvSpPr>
        <p:spPr>
          <a:xfrm>
            <a:off x="542925" y="4214059"/>
            <a:ext cx="46291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Tier 3</a:t>
            </a:r>
            <a:endParaRPr lang="en-US" sz="584" dirty="0"/>
          </a:p>
        </p:txBody>
      </p:sp>
      <p:sp>
        <p:nvSpPr>
          <p:cNvPr id="52" name="Text 48"/>
          <p:cNvSpPr/>
          <p:nvPr/>
        </p:nvSpPr>
        <p:spPr>
          <a:xfrm>
            <a:off x="542925" y="4373007"/>
            <a:ext cx="46291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LLM Service (Ollama / API)</a:t>
            </a:r>
            <a:endParaRPr lang="en-US" sz="683" dirty="0"/>
          </a:p>
        </p:txBody>
      </p:sp>
      <p:sp>
        <p:nvSpPr>
          <p:cNvPr id="53" name="Text 49"/>
          <p:cNvSpPr/>
          <p:nvPr/>
        </p:nvSpPr>
        <p:spPr>
          <a:xfrm>
            <a:off x="542925" y="4565889"/>
            <a:ext cx="4629150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4A4A4A"/>
                </a:solidFill>
              </a:rPr>
              <a:t>Local: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 qwen2.5:7b | 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4A4A4A"/>
                </a:solidFill>
              </a:rPr>
              <a:t>External: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4A4A4A"/>
                </a:solidFill>
              </a:rPr>
              <a:t> Azure/OpenAI Compatible</a:t>
            </a:r>
            <a:endParaRPr lang="en-US" sz="584" dirty="0"/>
          </a:p>
        </p:txBody>
      </p:sp>
      <p:sp>
        <p:nvSpPr>
          <p:cNvPr id="54" name="Shape 50"/>
          <p:cNvSpPr/>
          <p:nvPr/>
        </p:nvSpPr>
        <p:spPr>
          <a:xfrm>
            <a:off x="5572125" y="0"/>
            <a:ext cx="3571875" cy="5143500"/>
          </a:xfrm>
          <a:prstGeom prst="rect">
            <a:avLst/>
          </a:prstGeom>
          <a:solidFill>
            <a:srgbClr val="FF6B35">
              <a:alpha val="3000"/>
            </a:srgbClr>
          </a:solidFill>
          <a:ln/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1500188"/>
            <a:ext cx="300037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7313" y="678489"/>
            <a:ext cx="6429375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-1" kern="0" dirty="0">
                <a:solidFill>
                  <a:srgbClr val="1A1A1A"/>
                </a:solidFill>
              </a:rPr>
              <a:t>Thank You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1357313" y="1521451"/>
            <a:ext cx="64293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4CAF50"/>
                </a:solidFill>
              </a:rPr>
              <a:t>Q&amp;A and Next Steps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1357313" y="2159031"/>
            <a:ext cx="6429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1A1A1A"/>
                </a:solidFill>
              </a:rPr>
              <a:t>Roadmap to Success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1357313" y="2505503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1357313" y="250550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1357313" y="2819828"/>
            <a:ext cx="31289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Pilot Deployment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1357313" y="2984134"/>
            <a:ext cx="31289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Deploy the platform in a controlled environment with selected retail partners for real-world validation.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4657725" y="2505503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4657725" y="250550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657725" y="2819828"/>
            <a:ext cx="31289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Data Collection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657725" y="2984134"/>
            <a:ext cx="31289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Gather IoT sensor data, visual imagery, and historical decay patterns across product categories.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1357313" y="3501330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1357313" y="3501330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1357313" y="3815655"/>
            <a:ext cx="31289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Model Validation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357313" y="3979962"/>
            <a:ext cx="31289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A/B testing of prediction accuracy and markdown strategies against baseline methods.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4657725" y="3501330"/>
            <a:ext cx="257175" cy="257175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4657725" y="3501330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657725" y="3815655"/>
            <a:ext cx="31289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Scale &amp; Optimize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657725" y="3979962"/>
            <a:ext cx="31289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4A4A4A"/>
                </a:solidFill>
              </a:rPr>
              <a:t>Expand deployment across retail and supply chain networks with continuous improvement.</a:t>
            </a:r>
            <a:endParaRPr lang="en-US" sz="674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4556094"/>
            <a:ext cx="28575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57313" y="4881135"/>
            <a:ext cx="6429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4A4A"/>
                </a:solidFill>
              </a:rPr>
              <a:t>Questions? Let's discuss how AI-driven decay analysis can transform your supply chain.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2025-12-05T22:00:30Z</dcterms:created>
  <dcterms:modified xsi:type="dcterms:W3CDTF">2025-12-05T22:00:30Z</dcterms:modified>
</cp:coreProperties>
</file>